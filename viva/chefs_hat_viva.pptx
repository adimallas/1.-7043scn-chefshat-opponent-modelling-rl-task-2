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89.xml" ContentType="application/vnd.openxmlformats-officedocument.drawingml.chart+xml"/>
  <Override PartName="/ppt/charts/chart490.xml" ContentType="application/vnd.openxmlformats-officedocument.drawingml.chart+xml"/>
  <Override PartName="/ppt/charts/chart491.xml" ContentType="application/vnd.openxmlformats-officedocument.drawingml.chart+xml"/>
  <Override PartName="/ppt/charts/chart492.xml" ContentType="application/vnd.openxmlformats-officedocument.drawingml.chart+xml"/>
  <Override PartName="/ppt/charts/chart49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charts/_rels/chart4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9.xlsx"/></Relationships>
</file>

<file path=ppt/charts/_rels/chart4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0.xlsx"/></Relationships>
</file>

<file path=ppt/charts/_rels/chart4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1.xlsx"/></Relationships>
</file>

<file path=ppt/charts/_rels/chart4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2.xlsx"/></Relationships>
</file>

<file path=ppt/charts/_rels/chart4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3.xlsx"/></Relationships>
</file>

<file path=ppt/charts/chart4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800" u="none">
                        <a:solidFill>
                          <a:srgbClr val="333333"/>
                        </a:solidFill>
                        <a:latin typeface="Inter"/>
                      </a:rPr>
                      <a:t>10.8%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Random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0.1078125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CE3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800" u="none">
                        <a:solidFill>
                          <a:srgbClr val="333333"/>
                        </a:solidFill>
                        <a:latin typeface="Inter"/>
                      </a:rPr>
                      <a:t>59.1%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Heuristic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0.590625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800" u="none">
                        <a:solidFill>
                          <a:srgbClr val="333333"/>
                        </a:solidFill>
                        <a:latin typeface="Inter"/>
                      </a:rPr>
                      <a:t>33.8%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DQN-Random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0.338020833333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800" u="none">
                        <a:solidFill>
                          <a:srgbClr val="333333"/>
                        </a:solidFill>
                        <a:latin typeface="Inter"/>
                      </a:rPr>
                      <a:t>36.9%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DQN-Mixed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0.369270833333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800" u="none">
                        <a:solidFill>
                          <a:srgbClr val="333333"/>
                        </a:solidFill>
                        <a:latin typeface="Inter"/>
                      </a:rPr>
                      <a:t>35.1%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DQN-Aware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0.351041666667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9.xml"/><Relationship Id="rId2" Type="http://schemas.openxmlformats.org/officeDocument/2006/relationships/chart" Target="/ppt/charts/chart490.xml"/><Relationship Id="rId3" Type="http://schemas.openxmlformats.org/officeDocument/2006/relationships/chart" Target="/ppt/charts/chart491.xml"/><Relationship Id="rId4" Type="http://schemas.openxmlformats.org/officeDocument/2006/relationships/chart" Target="/ppt/charts/chart492.xml"/><Relationship Id="rId5" Type="http://schemas.openxmlformats.org/officeDocument/2006/relationships/chart" Target="/ppt/charts/chart493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762000" y="762000"/>
            <a:ext cx="139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7043SCN · TASK 2 · OPPONENT MODELLING</a:t>
            </a:r>
            <a:endParaRPr lang="en-US" sz="2400" dirty="0"/>
          </a:p>
        </p:txBody>
      </p:sp>
      <p:sp>
        <p:nvSpPr>
          <p:cNvPr id="4" name="cover-text-3"/>
          <p:cNvSpPr/>
          <p:nvPr/>
        </p:nvSpPr>
        <p:spPr>
          <a:xfrm>
            <a:off x="762000" y="1828800"/>
            <a:ext cx="1409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altLang="en-US" sz="52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Opponent-aware deep</a:t>
            </a:r>
            <a:endParaRPr lang="en-US" sz="52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2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reinforcement learning</a:t>
            </a:r>
            <a:endParaRPr lang="en-US" sz="52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2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Chef’s Hat</a:t>
            </a:r>
            <a:endParaRPr lang="en-US" sz="5200" dirty="0"/>
          </a:p>
        </p:txBody>
      </p:sp>
      <p:sp>
        <p:nvSpPr>
          <p:cNvPr id="5" name="cover-text-4"/>
          <p:cNvSpPr/>
          <p:nvPr/>
        </p:nvSpPr>
        <p:spPr>
          <a:xfrm>
            <a:off x="762000" y="51054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public opponent behaviours improve adaptation across competitive strategies?</a:t>
            </a:r>
            <a:endParaRPr lang="en-US" sz="2400" dirty="0"/>
          </a:p>
        </p:txBody>
      </p:sp>
      <p:sp>
        <p:nvSpPr>
          <p:cNvPr id="6" name="cover-text-5"/>
          <p:cNvSpPr/>
          <p:nvPr/>
        </p:nvSpPr>
        <p:spPr>
          <a:xfrm>
            <a:off x="762000" y="6553200"/>
            <a:ext cx="825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Sampath Adimalla · Student ID 17522555</a:t>
            </a:r>
            <a:endParaRPr lang="en-US" sz="2400" dirty="0"/>
          </a:p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Coventry University · ID modulo 7 = 1</a:t>
            </a:r>
            <a:endParaRPr lang="en-US" sz="2400" dirty="0"/>
          </a:p>
        </p:txBody>
      </p:sp>
      <p:sp>
        <p:nvSpPr>
          <p:cNvPr id="7" name="cover-text-6"/>
          <p:cNvSpPr/>
          <p:nvPr/>
        </p:nvSpPr>
        <p:spPr>
          <a:xfrm>
            <a:off x="762000" y="7950200"/>
            <a:ext cx="135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5,400 training matches · 8,960 held-out matches · bounded CPU study</a:t>
            </a:r>
            <a:endParaRPr lang="en-US" sz="2400" dirty="0"/>
          </a:p>
        </p:txBody>
      </p:sp>
      <p:sp>
        <p:nvSpPr>
          <p:cNvPr id="8" name="cover-text-7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vironment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environment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environment and information boundary</a:t>
            </a:r>
            <a:endParaRPr lang="en-US" sz="3600" dirty="0"/>
          </a:p>
        </p:txBody>
      </p:sp>
      <p:sp>
        <p:nvSpPr>
          <p:cNvPr id="4" name="environment-text-3"/>
          <p:cNvSpPr/>
          <p:nvPr/>
        </p:nvSpPr>
        <p:spPr>
          <a:xfrm>
            <a:off x="762000" y="2438400"/>
            <a:ext cx="635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Four-player card competition</a:t>
            </a:r>
            <a:endParaRPr lang="en-US" sz="3000" dirty="0"/>
          </a:p>
        </p:txBody>
      </p:sp>
      <p:sp>
        <p:nvSpPr>
          <p:cNvPr id="5" name="environment-text-4"/>
          <p:cNvSpPr/>
          <p:nvPr/>
        </p:nvSpPr>
        <p:spPr>
          <a:xfrm>
            <a:off x="762000" y="3378200"/>
            <a:ext cx="660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action IDs, with state-dependent legal choices.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finishing points: 3, 2, 1, 0.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hand + public board, counts and action history.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opponent private-card identities.</a:t>
            </a:r>
            <a:endParaRPr lang="en-US" sz="2400" dirty="0"/>
          </a:p>
        </p:txBody>
      </p:sp>
      <p:sp>
        <p:nvSpPr>
          <p:cNvPr id="6" name="environment-shape-5"/>
          <p:cNvSpPr/>
          <p:nvPr/>
        </p:nvSpPr>
        <p:spPr>
          <a:xfrm>
            <a:off x="7924800" y="2387600"/>
            <a:ext cx="9144" cy="4572000"/>
          </a:xfrm>
          <a:prstGeom prst="line">
            <a:avLst/>
          </a:prstGeom>
          <a:ln w="12700">
            <a:solidFill>
              <a:srgbClr val="0A2540"/>
            </a:solidFill>
            <a:prstDash val="solid"/>
          </a:ln>
        </p:spPr>
      </p:sp>
      <p:sp>
        <p:nvSpPr>
          <p:cNvPr id="7" name="environment-text-6"/>
          <p:cNvSpPr/>
          <p:nvPr/>
        </p:nvSpPr>
        <p:spPr>
          <a:xfrm>
            <a:off x="8559800" y="2438400"/>
            <a:ext cx="622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Reproducible, disclosed fixes</a:t>
            </a:r>
            <a:endParaRPr lang="en-US" sz="3000" dirty="0"/>
          </a:p>
        </p:txBody>
      </p:sp>
      <p:sp>
        <p:nvSpPr>
          <p:cNvPr id="8" name="environment-text-7"/>
          <p:cNvSpPr/>
          <p:nvPr/>
        </p:nvSpPr>
        <p:spPr>
          <a:xfrm>
            <a:off x="8559800" y="3378200"/>
            <a:ext cx="6223000" cy="370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pinned Game implementation.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One-line joker-only discard fix; action space unchanged.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policy guard: no empty-board pass when a discard is legal.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runs preserved, not scored.</a:t>
            </a:r>
            <a:endParaRPr lang="en-US" sz="2400" dirty="0"/>
          </a:p>
        </p:txBody>
      </p:sp>
      <p:sp>
        <p:nvSpPr>
          <p:cNvPr id="9" name="environment-text-8"/>
          <p:cNvSpPr/>
          <p:nvPr/>
        </p:nvSpPr>
        <p:spPr>
          <a:xfrm>
            <a:off x="762000" y="7747000"/>
            <a:ext cx="139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revision bf882e55… · exact patch and source hashes saved · results conditional on this backend and policy constraint</a:t>
            </a:r>
            <a:endParaRPr lang="en-US" sz="1600" dirty="0"/>
          </a:p>
        </p:txBody>
      </p:sp>
      <p:sp>
        <p:nvSpPr>
          <p:cNvPr id="10" name="environment-text-9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7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gorithm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algorithm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architecture, three learning conditions</a:t>
            </a:r>
            <a:endParaRPr lang="en-US" sz="3600" dirty="0"/>
          </a:p>
        </p:txBody>
      </p:sp>
      <p:sp>
        <p:nvSpPr>
          <p:cNvPr id="4" name="algorithm-shape-3"/>
          <p:cNvSpPr/>
          <p:nvPr/>
        </p:nvSpPr>
        <p:spPr>
          <a:xfrm>
            <a:off x="762000" y="2362200"/>
            <a:ext cx="30226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algorithm-text-4"/>
          <p:cNvSpPr/>
          <p:nvPr/>
        </p:nvSpPr>
        <p:spPr>
          <a:xfrm>
            <a:off x="889000" y="2616200"/>
            <a:ext cx="2768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state inputs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behaviour features</a:t>
            </a:r>
            <a:endParaRPr lang="en-US" sz="2400" dirty="0"/>
          </a:p>
        </p:txBody>
      </p:sp>
      <p:sp>
        <p:nvSpPr>
          <p:cNvPr id="6" name="algorithm-shape-5"/>
          <p:cNvSpPr/>
          <p:nvPr/>
        </p:nvSpPr>
        <p:spPr>
          <a:xfrm>
            <a:off x="3810000" y="3022600"/>
            <a:ext cx="635000" cy="9144"/>
          </a:xfrm>
          <a:prstGeom prst="line">
            <a:avLst/>
          </a:prstGeom>
          <a:ln w="25400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7" name="algorithm-shape-6"/>
          <p:cNvSpPr/>
          <p:nvPr/>
        </p:nvSpPr>
        <p:spPr>
          <a:xfrm>
            <a:off x="4572000" y="2362200"/>
            <a:ext cx="2540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algorithm-text-7"/>
          <p:cNvSpPr/>
          <p:nvPr/>
        </p:nvSpPr>
        <p:spPr>
          <a:xfrm>
            <a:off x="4699000" y="27178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· ReLU</a:t>
            </a:r>
            <a:endParaRPr lang="en-US" sz="2400" dirty="0"/>
          </a:p>
        </p:txBody>
      </p:sp>
      <p:sp>
        <p:nvSpPr>
          <p:cNvPr id="9" name="algorithm-shape-8"/>
          <p:cNvSpPr/>
          <p:nvPr/>
        </p:nvSpPr>
        <p:spPr>
          <a:xfrm>
            <a:off x="7137400" y="3022600"/>
            <a:ext cx="635000" cy="9144"/>
          </a:xfrm>
          <a:prstGeom prst="line">
            <a:avLst/>
          </a:prstGeom>
          <a:ln w="25400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10" name="algorithm-shape-9"/>
          <p:cNvSpPr/>
          <p:nvPr/>
        </p:nvSpPr>
        <p:spPr>
          <a:xfrm>
            <a:off x="7899400" y="2362200"/>
            <a:ext cx="2540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algorithm-text-10"/>
          <p:cNvSpPr/>
          <p:nvPr/>
        </p:nvSpPr>
        <p:spPr>
          <a:xfrm>
            <a:off x="8026400" y="27178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· ReLU</a:t>
            </a:r>
            <a:endParaRPr lang="en-US" sz="2400" dirty="0"/>
          </a:p>
        </p:txBody>
      </p:sp>
      <p:sp>
        <p:nvSpPr>
          <p:cNvPr id="12" name="algorithm-shape-11"/>
          <p:cNvSpPr/>
          <p:nvPr/>
        </p:nvSpPr>
        <p:spPr>
          <a:xfrm>
            <a:off x="10464800" y="3022600"/>
            <a:ext cx="635000" cy="9144"/>
          </a:xfrm>
          <a:prstGeom prst="line">
            <a:avLst/>
          </a:prstGeom>
          <a:ln w="25400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13" name="algorithm-shape-12"/>
          <p:cNvSpPr/>
          <p:nvPr/>
        </p:nvSpPr>
        <p:spPr>
          <a:xfrm>
            <a:off x="11226800" y="2362200"/>
            <a:ext cx="3810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algorithm-text-13"/>
          <p:cNvSpPr/>
          <p:nvPr/>
        </p:nvSpPr>
        <p:spPr>
          <a:xfrm>
            <a:off x="11353800" y="2565400"/>
            <a:ext cx="3556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Q-values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/ progress mask</a:t>
            </a:r>
            <a:endParaRPr lang="en-US" sz="2400" dirty="0"/>
          </a:p>
        </p:txBody>
      </p:sp>
      <p:sp>
        <p:nvSpPr>
          <p:cNvPr id="15" name="algorithm-text-14"/>
          <p:cNvSpPr/>
          <p:nvPr/>
        </p:nvSpPr>
        <p:spPr>
          <a:xfrm>
            <a:off x="762000" y="4241800"/>
            <a:ext cx="1384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DQN: online network selects; target network evaluates.</a:t>
            </a:r>
            <a:endParaRPr lang="en-US" sz="2400" dirty="0"/>
          </a:p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· Huber loss · target updates · epsilon decay · 50,632 parameters</a:t>
            </a:r>
            <a:endParaRPr lang="en-US" sz="2400" dirty="0"/>
          </a:p>
        </p:txBody>
      </p:sp>
      <p:sp>
        <p:nvSpPr>
          <p:cNvPr id="16" name="algorithm-text-15"/>
          <p:cNvSpPr/>
          <p:nvPr/>
        </p:nvSpPr>
        <p:spPr>
          <a:xfrm>
            <a:off x="762000" y="55626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DQN-Random:</a:t>
            </a: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 opponents; behaviour inputs zero.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DQN-Mixed:</a:t>
            </a: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 + aggressive + conservative; inputs zero.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b="1" dirty="0">
                <a:solidFill>
                  <a:srgbClr val="E85D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DQN-Aware:</a:t>
            </a: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same mixed schedule; public features active.</a:t>
            </a:r>
            <a:endParaRPr lang="en-US" sz="2400" dirty="0"/>
          </a:p>
        </p:txBody>
      </p:sp>
      <p:sp>
        <p:nvSpPr>
          <p:cNvPr id="17" name="algorithm-text-16"/>
          <p:cNvSpPr/>
          <p:nvPr/>
        </p:nvSpPr>
        <p:spPr>
          <a:xfrm>
            <a:off x="762000" y="76962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reward = terminal points / 3 + 0.01 × discarded cards · evaluation uses unshaped outcomes</a:t>
            </a:r>
            <a:endParaRPr lang="en-US" sz="1600" dirty="0"/>
          </a:p>
        </p:txBody>
      </p:sp>
      <p:sp>
        <p:nvSpPr>
          <p:cNvPr id="18" name="algorithm-text-17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7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tocol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protocol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training and held-out evaluation</a:t>
            </a:r>
            <a:endParaRPr lang="en-US" sz="3600" dirty="0"/>
          </a:p>
        </p:txBody>
      </p:sp>
      <p:graphicFrame>
        <p:nvGraphicFramePr>
          <p:cNvPr id="5" name="protocol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14224000" cy="3759200"/>
        </p:xfrm>
        <a:graphic>
          <a:graphicData uri="http://schemas.openxmlformats.org/drawingml/2006/table">
            <a:tbl>
              <a:tblPr/>
              <a:tblGrid>
                <a:gridCol w="4267200"/>
                <a:gridCol w="9956800"/>
              </a:tblGrid>
              <a:tr h="7111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comparison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Training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600 matches × 3 conditions × seeds 17, 29, 43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Frozen evaluation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checkpoints; no test-selected model or exploration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Opponents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Random, aggressive, conservative, mixed, switching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Held-out deals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4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 common seeds × 4 seats × each configuration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52400" marB="152400" anchor="ctr">
                    <a:lnL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rotocol-text-4"/>
          <p:cNvSpPr/>
          <p:nvPr/>
        </p:nvSpPr>
        <p:spPr>
          <a:xfrm>
            <a:off x="762000" y="6629400"/>
            <a:ext cx="1397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5,400 training matches · 8,960 evaluation matches including ablation.</a:t>
            </a:r>
            <a:endParaRPr lang="en-US" sz="2400" dirty="0"/>
          </a:p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 deal-seed bootstrap; between-training-seed variation reported.</a:t>
            </a:r>
            <a:endParaRPr lang="en-US" sz="2400" dirty="0"/>
          </a:p>
        </p:txBody>
      </p:sp>
      <p:sp>
        <p:nvSpPr>
          <p:cNvPr id="6" name="protocol-text-5"/>
          <p:cNvSpPr/>
          <p:nvPr/>
        </p:nvSpPr>
        <p:spPr>
          <a:xfrm>
            <a:off x="762000" y="78740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Baselines evaluated once; trained variants at three seeds · all final matches complete · zero invalid actions</a:t>
            </a:r>
            <a:endParaRPr lang="en-US" sz="1600" dirty="0"/>
          </a:p>
        </p:txBody>
      </p:sp>
      <p:sp>
        <p:nvSpPr>
          <p:cNvPr id="7" name="protocol-text-6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7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s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results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performance: the heuristic is strongest</a:t>
            </a:r>
            <a:endParaRPr lang="en-US" sz="3600" dirty="0"/>
          </a:p>
        </p:txBody>
      </p:sp>
      <p:sp>
        <p:nvSpPr>
          <p:cNvPr id="4" name="results-text-3"/>
          <p:cNvSpPr/>
          <p:nvPr/>
        </p:nvSpPr>
        <p:spPr>
          <a:xfrm>
            <a:off x="762000" y="20828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First-place win rate across the same five opponent conditions</a:t>
            </a:r>
            <a:endParaRPr lang="en-US" sz="2400" dirty="0"/>
          </a:p>
        </p:txBody>
      </p:sp>
      <p:graphicFrame>
        <p:nvGraphicFramePr>
          <p:cNvPr id="5" name="results-chart-4" descr=""/>
          <p:cNvGraphicFramePr/>
          <p:nvPr/>
        </p:nvGraphicFramePr>
        <p:xfrm>
          <a:off x="762000" y="2921000"/>
          <a:ext cx="27432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results-chart-5" descr=""/>
          <p:cNvGraphicFramePr/>
          <p:nvPr/>
        </p:nvGraphicFramePr>
        <p:xfrm>
          <a:off x="3581400" y="2921000"/>
          <a:ext cx="27432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results-chart-6" descr=""/>
          <p:cNvGraphicFramePr/>
          <p:nvPr/>
        </p:nvGraphicFramePr>
        <p:xfrm>
          <a:off x="6400800" y="2921000"/>
          <a:ext cx="27432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results-chart-7" descr=""/>
          <p:cNvGraphicFramePr/>
          <p:nvPr/>
        </p:nvGraphicFramePr>
        <p:xfrm>
          <a:off x="9220200" y="2921000"/>
          <a:ext cx="27432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results-chart-8" descr=""/>
          <p:cNvGraphicFramePr/>
          <p:nvPr/>
        </p:nvGraphicFramePr>
        <p:xfrm>
          <a:off x="12039600" y="2921000"/>
          <a:ext cx="29464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esults-text-9"/>
          <p:cNvSpPr/>
          <p:nvPr/>
        </p:nvSpPr>
        <p:spPr>
          <a:xfrm>
            <a:off x="762000" y="7340600"/>
            <a:ext cx="139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complex does not mean better: aware is below mixed overall.</a:t>
            </a:r>
            <a:endParaRPr lang="en-US" sz="2400" dirty="0"/>
          </a:p>
        </p:txBody>
      </p:sp>
      <p:sp>
        <p:nvSpPr>
          <p:cNvPr id="11" name="results-text-10"/>
          <p:cNvSpPr/>
          <p:nvPr/>
        </p:nvSpPr>
        <p:spPr>
          <a:xfrm>
            <a:off x="762000" y="8001000"/>
            <a:ext cx="135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= 640 per baseline; n = 1,920 per learned condition · exact CSVs and joint-bootstrap intervals in the repository</a:t>
            </a:r>
            <a:endParaRPr lang="en-US" sz="1600" dirty="0"/>
          </a:p>
        </p:txBody>
      </p:sp>
      <p:sp>
        <p:nvSpPr>
          <p:cNvPr id="12" name="results-text-11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7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lation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ablation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matter, but do not guarantee superiority</a:t>
            </a:r>
            <a:endParaRPr lang="en-US" sz="3600" dirty="0"/>
          </a:p>
        </p:txBody>
      </p:sp>
      <p:sp>
        <p:nvSpPr>
          <p:cNvPr id="4" name="ablation-text-3"/>
          <p:cNvSpPr/>
          <p:nvPr/>
        </p:nvSpPr>
        <p:spPr>
          <a:xfrm>
            <a:off x="762000" y="2438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Same-checkpoint ablation</a:t>
            </a:r>
            <a:endParaRPr lang="en-US" sz="3000" dirty="0"/>
          </a:p>
        </p:txBody>
      </p:sp>
      <p:sp>
        <p:nvSpPr>
          <p:cNvPr id="5" name="ablation-text-4"/>
          <p:cNvSpPr/>
          <p:nvPr/>
        </p:nvSpPr>
        <p:spPr>
          <a:xfrm>
            <a:off x="762000" y="33782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E85D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35.10%</a:t>
            </a:r>
            <a:endParaRPr lang="en-US" sz="5200" dirty="0"/>
          </a:p>
        </p:txBody>
      </p:sp>
      <p:sp>
        <p:nvSpPr>
          <p:cNvPr id="6" name="ablation-text-5"/>
          <p:cNvSpPr/>
          <p:nvPr/>
        </p:nvSpPr>
        <p:spPr>
          <a:xfrm>
            <a:off x="762000" y="44958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on</a:t>
            </a:r>
            <a:endParaRPr lang="en-US" sz="2400" dirty="0"/>
          </a:p>
        </p:txBody>
      </p:sp>
      <p:sp>
        <p:nvSpPr>
          <p:cNvPr id="7" name="ablation-text-6"/>
          <p:cNvSpPr/>
          <p:nvPr/>
        </p:nvSpPr>
        <p:spPr>
          <a:xfrm>
            <a:off x="4064000" y="33782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24.22%</a:t>
            </a:r>
            <a:endParaRPr lang="en-US" sz="5200" dirty="0"/>
          </a:p>
        </p:txBody>
      </p:sp>
      <p:sp>
        <p:nvSpPr>
          <p:cNvPr id="8" name="ablation-text-7"/>
          <p:cNvSpPr/>
          <p:nvPr/>
        </p:nvSpPr>
        <p:spPr>
          <a:xfrm>
            <a:off x="4064000" y="44958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zeroed</a:t>
            </a:r>
            <a:endParaRPr lang="en-US" sz="2400" dirty="0"/>
          </a:p>
        </p:txBody>
      </p:sp>
      <p:sp>
        <p:nvSpPr>
          <p:cNvPr id="9" name="ablation-text-8"/>
          <p:cNvSpPr/>
          <p:nvPr/>
        </p:nvSpPr>
        <p:spPr>
          <a:xfrm>
            <a:off x="762000" y="5435600"/>
            <a:ext cx="6350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of feature reliance.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Zeroing inputs creates distribution shift; it does not prove the aware architecture beats retrained mixed DQN.</a:t>
            </a:r>
            <a:endParaRPr lang="en-US" sz="2400" dirty="0"/>
          </a:p>
        </p:txBody>
      </p:sp>
      <p:sp>
        <p:nvSpPr>
          <p:cNvPr id="10" name="ablation-shape-9"/>
          <p:cNvSpPr/>
          <p:nvPr/>
        </p:nvSpPr>
        <p:spPr>
          <a:xfrm>
            <a:off x="7924800" y="2413000"/>
            <a:ext cx="9144" cy="4953000"/>
          </a:xfrm>
          <a:prstGeom prst="line">
            <a:avLst/>
          </a:prstGeom>
          <a:ln w="12700">
            <a:solidFill>
              <a:srgbClr val="0A2540"/>
            </a:solidFill>
            <a:prstDash val="solid"/>
          </a:ln>
        </p:spPr>
      </p:sp>
      <p:sp>
        <p:nvSpPr>
          <p:cNvPr id="11" name="ablation-text-10"/>
          <p:cNvSpPr/>
          <p:nvPr/>
        </p:nvSpPr>
        <p:spPr>
          <a:xfrm>
            <a:off x="8559800" y="24384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switching opponents</a:t>
            </a:r>
            <a:endParaRPr lang="en-US" sz="3000" dirty="0"/>
          </a:p>
        </p:txBody>
      </p:sp>
      <p:sp>
        <p:nvSpPr>
          <p:cNvPr id="12" name="ablation-text-11"/>
          <p:cNvSpPr/>
          <p:nvPr/>
        </p:nvSpPr>
        <p:spPr>
          <a:xfrm>
            <a:off x="8559800" y="3733800"/>
            <a:ext cx="635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every 20 observed opponent actions.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DQN-Mixed: </a:t>
            </a:r>
            <a:r>
              <a:rPr lang="en-US" altLang="en-US" sz="2400" b="1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17.19%</a:t>
            </a: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wins.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altLang="en-US" sz="2400" dirty="0">
                <a:solidFill>
                  <a:srgbClr val="E85D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DQN-Aware: </a:t>
            </a:r>
            <a:r>
              <a:rPr lang="en-US" altLang="en-US" sz="2400" b="1" dirty="0">
                <a:solidFill>
                  <a:srgbClr val="E85D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17.19%</a:t>
            </a:r>
            <a:r>
              <a:rPr lang="en-US" altLang="en-US" sz="2400" dirty="0">
                <a:solidFill>
                  <a:srgbClr val="E85D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wins.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DQN-Random: </a:t>
            </a:r>
            <a:r>
              <a:rPr lang="en-US" altLang="en-US" sz="2400" b="1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17.45%</a:t>
            </a: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wins.</a:t>
            </a:r>
            <a:endParaRPr lang="en-US" sz="2400" dirty="0"/>
          </a:p>
        </p:txBody>
      </p:sp>
      <p:sp>
        <p:nvSpPr>
          <p:cNvPr id="13" name="ablation-text-12"/>
          <p:cNvSpPr/>
          <p:nvPr/>
        </p:nvSpPr>
        <p:spPr>
          <a:xfrm>
            <a:off x="8559800" y="66294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clear adaptation advantage for the aware agent in this test.</a:t>
            </a:r>
            <a:endParaRPr lang="en-US" sz="2400" dirty="0"/>
          </a:p>
        </p:txBody>
      </p:sp>
      <p:sp>
        <p:nvSpPr>
          <p:cNvPr id="14" name="ablation-text-13"/>
          <p:cNvSpPr/>
          <p:nvPr/>
        </p:nvSpPr>
        <p:spPr>
          <a:xfrm>
            <a:off x="762000" y="7975600"/>
            <a:ext cx="137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corrected event-hook evaluation only · seed variability and uncertainty limit broader claims</a:t>
            </a:r>
            <a:endParaRPr lang="en-US" sz="1600" dirty="0"/>
          </a:p>
        </p:txBody>
      </p:sp>
      <p:sp>
        <p:nvSpPr>
          <p:cNvPr id="15" name="ablation-text-14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7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-shape-1"/>
          <p:cNvSpPr/>
          <p:nvPr/>
        </p:nvSpPr>
        <p:spPr>
          <a:xfrm>
            <a:off x="15443200" y="762000"/>
            <a:ext cx="50800" cy="50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demo-text-2"/>
          <p:cNvSpPr/>
          <p:nvPr/>
        </p:nvSpPr>
        <p:spPr>
          <a:xfrm>
            <a:off x="762000" y="762000"/>
            <a:ext cx="1422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Demonstration, limitations and next steps</a:t>
            </a:r>
            <a:endParaRPr lang="en-US" sz="3600" dirty="0"/>
          </a:p>
        </p:txBody>
      </p:sp>
      <p:sp>
        <p:nvSpPr>
          <p:cNvPr id="4" name="demo-text-3"/>
          <p:cNvSpPr/>
          <p:nvPr/>
        </p:nvSpPr>
        <p:spPr>
          <a:xfrm>
            <a:off x="762000" y="2413000"/>
            <a:ext cx="1397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trained-agent match: seed 777888, seat 0</a:t>
            </a:r>
            <a:endParaRPr lang="en-US" sz="3200" dirty="0"/>
          </a:p>
        </p:txBody>
      </p:sp>
      <p:sp>
        <p:nvSpPr>
          <p:cNvPr id="5" name="demo-text-4"/>
          <p:cNvSpPr/>
          <p:nvPr/>
        </p:nvSpPr>
        <p:spPr>
          <a:xfrm>
            <a:off x="762000" y="3556000"/>
            <a:ext cx="1397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completion · first place · 3 official points · 15 learner decisions.</a:t>
            </a:r>
            <a:endParaRPr lang="en-US" sz="2400" dirty="0"/>
          </a:p>
          <a:p>
            <a:pPr algn="l" indent="0" marL="0"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demonstration is not evidence of general superiority.</a:t>
            </a:r>
            <a:endParaRPr lang="en-US" sz="2400" dirty="0"/>
          </a:p>
        </p:txBody>
      </p:sp>
      <p:sp>
        <p:nvSpPr>
          <p:cNvPr id="6" name="demo-shape-5"/>
          <p:cNvSpPr/>
          <p:nvPr/>
        </p:nvSpPr>
        <p:spPr>
          <a:xfrm>
            <a:off x="762000" y="4800600"/>
            <a:ext cx="14224000" cy="81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demo-text-6"/>
          <p:cNvSpPr/>
          <p:nvPr/>
        </p:nvSpPr>
        <p:spPr>
          <a:xfrm>
            <a:off x="990600" y="5029200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scripts/demo.py --seed 777888 --seat 0 --delay 0.15</a:t>
            </a:r>
            <a:endParaRPr lang="en-US" sz="2400" dirty="0"/>
          </a:p>
        </p:txBody>
      </p:sp>
      <p:sp>
        <p:nvSpPr>
          <p:cNvPr id="8" name="demo-text-7"/>
          <p:cNvSpPr/>
          <p:nvPr/>
        </p:nvSpPr>
        <p:spPr>
          <a:xfrm>
            <a:off x="762000" y="60198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Limits: 600 matches per run, three seeds, hand-designed opponents.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Patched backend + progress guard; no convergence or human-play claim.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altLang="en-US" sz="2400" dirty="0">
                <a:solidFill>
                  <a:srgbClr val="1D2D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stronger baselines, longer budgets, recurrent opponent modelling.</a:t>
            </a:r>
            <a:endParaRPr lang="en-US" sz="2400" dirty="0"/>
          </a:p>
        </p:txBody>
      </p:sp>
      <p:sp>
        <p:nvSpPr>
          <p:cNvPr id="9" name="demo-text-8"/>
          <p:cNvSpPr/>
          <p:nvPr/>
        </p:nvSpPr>
        <p:spPr>
          <a:xfrm>
            <a:off x="762000" y="7975600"/>
            <a:ext cx="137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your own viva · disclose AI assistance as required · publish and verify assessor access</a:t>
            </a:r>
            <a:endParaRPr lang="en-US" sz="1600" dirty="0"/>
          </a:p>
        </p:txBody>
      </p:sp>
      <p:sp>
        <p:nvSpPr>
          <p:cNvPr id="10" name="demo-text-9"/>
          <p:cNvSpPr/>
          <p:nvPr/>
        </p:nvSpPr>
        <p:spPr>
          <a:xfrm>
            <a:off x="14859000" y="817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526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Opponent-Aware Deep Reinforcement Learning in Chef’s Hat</dc:title>
  <dc:subject>Opponent-Aware Deep Reinforcement Learning in Chef’s Hat</dc:subject>
  <dc:creator>Manus</dc:creator>
  <cp:lastModifiedBy>Manus</cp:lastModifiedBy>
  <cp:revision>1</cp:revision>
  <dcterms:created xsi:type="dcterms:W3CDTF">2026-10-25T22:57:25Z</dcterms:created>
  <dcterms:modified xsi:type="dcterms:W3CDTF">2026-10-25T22:57:25Z</dcterms:modified>
</cp:coreProperties>
</file>